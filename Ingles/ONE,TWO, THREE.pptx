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7" r:id="rId2"/>
    <p:sldId id="261" r:id="rId3"/>
    <p:sldId id="262" r:id="rId4"/>
    <p:sldId id="263" r:id="rId5"/>
    <p:sldId id="270" r:id="rId6"/>
    <p:sldId id="266" r:id="rId7"/>
    <p:sldId id="267" r:id="rId8"/>
    <p:sldId id="271" r:id="rId9"/>
    <p:sldId id="264" r:id="rId10"/>
    <p:sldId id="265" r:id="rId11"/>
    <p:sldId id="269" r:id="rId12"/>
    <p:sldId id="268" r:id="rId13"/>
    <p:sldId id="260" r:id="rId14"/>
  </p:sldIdLst>
  <p:sldSz cx="12192000" cy="6858000"/>
  <p:notesSz cx="6858000" cy="9144000"/>
  <p:defaultTextStyle>
    <a:defPPr lvl="0">
      <a:defRPr lang="es-CO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A8CD8E-1A0D-43F9-B889-7DEE0309FA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E6EF58-D1F3-4DAF-B49C-008A57B694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2391BA-3BEF-4E36-9AC0-B374130BB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B7029-2BD7-4C47-A9D4-AA25C461A458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D1BFF1-C624-4F44-886D-3A1BE85C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E67CBF-3971-4D87-8C9D-095C01427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1BE-C94D-4E2C-A5A2-9746349D9A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2064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FE87E-6F1D-4572-8188-0D879DDCE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CB2BEB-7A42-4819-97A8-BA5A64835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E1FF02-1F12-413E-8C77-649AE2EBE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B7029-2BD7-4C47-A9D4-AA25C461A458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06FF48-6648-45AC-B4A1-08BBD3056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0F1A5-E22E-4B7C-991D-32B26CFE7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1BE-C94D-4E2C-A5A2-9746349D9A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4130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8B4F6-8008-40A4-92E9-09E96DDF4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0583E3-536F-4980-9529-DBD619176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B9BF74-D0A6-461B-A3A6-27304A800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B7029-2BD7-4C47-A9D4-AA25C461A458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D52615-4385-4740-B225-52FBE3E47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7E3E81-3421-426D-931A-E8C60835A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1BE-C94D-4E2C-A5A2-9746349D9A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11935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BDF5B3-6D04-47F9-8B33-01EC31DA3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15704A-8018-4ECB-90DA-BA1F2FB2A4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503D54-F762-4CCA-882F-3742CE19A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4454E4-CDFE-440D-A83D-5AE5ACF03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B7029-2BD7-4C47-A9D4-AA25C461A458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E69822-6CA2-4404-A7E1-ABD837E4C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FF6FBC-A0EB-4663-B509-92732017E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1BE-C94D-4E2C-A5A2-9746349D9A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5735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19B9E7-580C-40A8-8082-95785EC35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E6A2F6-B7B9-4BB6-ADEE-E3F76489B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13CF10C-8B14-4274-ABD2-A443BF97A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F675825-89A9-4FE5-91B6-E3C8AD0EA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EFA4CA4-14ED-4688-8907-E13EDBC53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C46CC78-BF95-420F-AEA3-DE8275533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B7029-2BD7-4C47-A9D4-AA25C461A458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5163E33-C290-4B69-8507-A7E7EBB0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2C8E618-3C6E-4AEE-AB53-2317EF25F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1BE-C94D-4E2C-A5A2-9746349D9A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1359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90037-BB41-4A8B-BC31-50347CE15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BDFE3C3-8108-4BC5-8952-4AFF29C0D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B7029-2BD7-4C47-A9D4-AA25C461A458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C33AC3-F221-4A38-AE33-114487266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05405C5-66DF-4439-B1F1-AC1AF4C46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1BE-C94D-4E2C-A5A2-9746349D9A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174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7F2B29F-E774-41F3-BBA6-457760DD3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B7029-2BD7-4C47-A9D4-AA25C461A458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BDD1684-CA27-4661-B266-A268481EE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9D6E8B-1D81-4A81-9B58-C879D843F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1BE-C94D-4E2C-A5A2-9746349D9A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6763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FF4733-4425-46CE-A6B8-7AA47D6A6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8861A0-F723-4CBE-8E1F-ACEFE32D3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B52683-9D7A-4298-BF67-811B219F5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710D55-091F-473F-8CCD-509EB509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B7029-2BD7-4C47-A9D4-AA25C461A458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091F34-0915-40B2-8923-6C7DE51FF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E05BBF-3ED9-4D13-99B5-7B0F29426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1BE-C94D-4E2C-A5A2-9746349D9A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8704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D05286-B189-4DFD-B033-80A34FD75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B0C558F-7C2E-4967-B4B9-BBC02F9999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0DD578-7302-4FF4-B2B5-F8AF0B25D9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6E4FA8-F64A-4936-92AB-61209BAB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B7029-2BD7-4C47-A9D4-AA25C461A458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07C770-B66C-47C1-BCC8-2FF075B6E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982BB8-E8D0-4568-A67D-004A8B773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1BE-C94D-4E2C-A5A2-9746349D9A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3549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A6E5B-46BC-4AD0-A273-E251A1535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02C675D-ED73-4327-845E-63E777C75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DAF8AE-92C2-40A5-A664-ACA28A481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B7029-2BD7-4C47-A9D4-AA25C461A458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EEFC38-D8C0-471A-8240-5091952B9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31FA14-2793-449A-91F3-F690C08F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1BE-C94D-4E2C-A5A2-9746349D9A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4835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6714DF1-74AC-4B81-BF3D-E034C1DD1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464807-5914-492C-8A87-83579CE54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5B0761-098E-4F72-A0B0-0E55B6C3B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B7029-2BD7-4C47-A9D4-AA25C461A458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44740F-58DE-4795-9E72-7E5E7FBDB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2B4AB7-05FF-4F48-ACBC-C4D28462A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1BE-C94D-4E2C-A5A2-9746349D9A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7161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BBE7667-B5AB-41E1-B9F0-D74DDC048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55E6A6-FF1F-4197-9AEC-87F3477F2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6EEB3B-6A26-4A0D-A9C3-50234A9EE8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B7029-2BD7-4C47-A9D4-AA25C461A458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79AFD7-CFC5-4411-94E2-F9734A36DF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A56B68-FC0C-4FB5-8989-07A2DA47AA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F51BE-C94D-4E2C-A5A2-9746349D9A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11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3DDBE4F-E683-4768-A920-83D1307E0CA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6630" r="9450" b="7193"/>
          <a:stretch/>
        </p:blipFill>
        <p:spPr>
          <a:xfrm>
            <a:off x="4437459" y="-49480"/>
            <a:ext cx="3317082" cy="290988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C08A59-D441-4FB3-882F-5E97C84118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9250" y="277492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MX" dirty="0">
                <a:latin typeface="Exotc350 Bd BT" panose="04030805050B02020A03" pitchFamily="82" charset="0"/>
              </a:rPr>
              <a:t>INGLÉS BÁSICO CONVERSACIONAL NIVEL A1. COHORTE XXII</a:t>
            </a:r>
            <a:endParaRPr lang="es-CO" dirty="0">
              <a:latin typeface="Exotc350 Bd BT" panose="04030805050B02020A03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CA29B4-D06E-45C1-8CB8-7688EE365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0236" y="5162520"/>
            <a:ext cx="8672514" cy="1369456"/>
          </a:xfrm>
        </p:spPr>
        <p:txBody>
          <a:bodyPr>
            <a:normAutofit fontScale="85000" lnSpcReduction="20000"/>
          </a:bodyPr>
          <a:lstStyle/>
          <a:p>
            <a:r>
              <a:rPr lang="es-CO" sz="1600" dirty="0">
                <a:latin typeface="Exotc350 DmBd BT" panose="04030705050B02020A03" pitchFamily="82" charset="0"/>
              </a:rPr>
              <a:t>Docente: MARGARITH SASAI SALAZAR ROSADO.</a:t>
            </a:r>
          </a:p>
          <a:p>
            <a:r>
              <a:rPr lang="es-CO" sz="1600" dirty="0">
                <a:latin typeface="Exotc350 DmBd BT" panose="04030705050B02020A03" pitchFamily="82" charset="0"/>
              </a:rPr>
              <a:t>Estudios: LICENCIADA EN EDUCACION INFANTIL </a:t>
            </a:r>
          </a:p>
          <a:p>
            <a:r>
              <a:rPr lang="es-CO" sz="1600" dirty="0">
                <a:latin typeface="Exotc350 DmBd BT" panose="04030705050B02020A03" pitchFamily="82" charset="0"/>
              </a:rPr>
              <a:t>TEACHER INGLES NIVEL 4. </a:t>
            </a:r>
          </a:p>
          <a:p>
            <a:r>
              <a:rPr lang="es-CO" sz="1600" dirty="0">
                <a:latin typeface="Exotc350 DmBd BT" panose="04030705050B02020A03" pitchFamily="82" charset="0"/>
              </a:rPr>
              <a:t>Correo: margarithsasai@fundaciónsocialperea.edu.co</a:t>
            </a:r>
          </a:p>
          <a:p>
            <a:r>
              <a:rPr lang="es-CO" sz="1600" dirty="0">
                <a:latin typeface="Exotc350 DmBd BT" panose="04030705050B02020A03" pitchFamily="82" charset="0"/>
              </a:rPr>
              <a:t>Cel: +57 322-673-9529</a:t>
            </a:r>
          </a:p>
        </p:txBody>
      </p:sp>
    </p:spTree>
    <p:extLst>
      <p:ext uri="{BB962C8B-B14F-4D97-AF65-F5344CB8AC3E}">
        <p14:creationId xmlns:p14="http://schemas.microsoft.com/office/powerpoint/2010/main" val="3148218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4E67A6B-061F-47AD-A957-65EDB422C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718" y="727075"/>
            <a:ext cx="10515600" cy="1882775"/>
          </a:xfrm>
        </p:spPr>
        <p:txBody>
          <a:bodyPr>
            <a:noAutofit/>
          </a:bodyPr>
          <a:lstStyle/>
          <a:p>
            <a:pPr algn="ctr"/>
            <a:r>
              <a:rPr lang="es-CO" sz="9600" b="1" i="1" u="sng" dirty="0">
                <a:latin typeface="Exotc350 DmBd BT" panose="04030705050B02020A03"/>
              </a:rPr>
              <a:t>“</a:t>
            </a:r>
            <a:r>
              <a:rPr lang="es-CO" sz="9600" b="1" i="1" u="sng" dirty="0" err="1">
                <a:latin typeface="Exotc350 DmBd BT" panose="04030705050B02020A03"/>
              </a:rPr>
              <a:t>One</a:t>
            </a:r>
            <a:r>
              <a:rPr lang="es-CO" sz="9600" b="1" i="1" u="sng" dirty="0">
                <a:latin typeface="Exotc350 DmBd BT" panose="04030705050B02020A03"/>
              </a:rPr>
              <a:t>, </a:t>
            </a:r>
            <a:r>
              <a:rPr lang="es-CO" sz="9600" b="1" i="1" u="sng" dirty="0" err="1">
                <a:latin typeface="Exotc350 DmBd BT" panose="04030705050B02020A03"/>
              </a:rPr>
              <a:t>Two</a:t>
            </a:r>
            <a:r>
              <a:rPr lang="es-CO" sz="9600" b="1" i="1" u="sng" dirty="0">
                <a:latin typeface="Exotc350 DmBd BT" panose="04030705050B02020A03"/>
              </a:rPr>
              <a:t>, </a:t>
            </a:r>
            <a:r>
              <a:rPr lang="es-CO" sz="9600" b="1" i="1" u="sng" dirty="0" err="1">
                <a:latin typeface="Exotc350 DmBd BT" panose="04030705050B02020A03"/>
              </a:rPr>
              <a:t>Three</a:t>
            </a:r>
            <a:r>
              <a:rPr lang="es-CO" sz="9600" b="1" i="1" u="sng" dirty="0">
                <a:latin typeface="Exotc350 DmBd BT" panose="04030705050B02020A03"/>
              </a:rPr>
              <a:t>…”</a:t>
            </a:r>
            <a:r>
              <a:rPr lang="es-MX" sz="9600" b="1" i="1" u="sng" dirty="0">
                <a:latin typeface="Exotc350 DmBd BT" panose="04030705050B02020A03"/>
              </a:rPr>
              <a:t> </a:t>
            </a:r>
            <a:endParaRPr lang="es-CO" sz="9600" b="1" i="1" u="sng" dirty="0">
              <a:latin typeface="Exotc350 DmBd BT" panose="04030705050B02020A03"/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31CAAB2-2C12-438A-8541-E60C2C0084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00250" y="3057524"/>
            <a:ext cx="9634537" cy="30734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latin typeface="Exotc350 DmBd BT" panose="04030705050B02020A03"/>
              </a:rPr>
              <a:t>🎯 Objective:</a:t>
            </a:r>
          </a:p>
          <a:p>
            <a:pPr marL="0" indent="0" algn="ctr">
              <a:buNone/>
            </a:pPr>
            <a:r>
              <a:rPr lang="en-US" sz="3600" b="1" dirty="0">
                <a:latin typeface="Exotc350 DmBd BT" panose="04030705050B02020A03"/>
              </a:rPr>
              <a:t>Learn how to recognize, write, and use numbers, time, days of the week, months of the year, and basic time-related vocabulary in English.</a:t>
            </a: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endParaRPr lang="es-CO" sz="2400" dirty="0">
              <a:latin typeface="Exotc350 DmBd BT" panose="04030705050B02020A03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901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4E67A6B-061F-47AD-A957-65EDB422C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8725" y="18415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xotc350 DmBd BT" panose="04030705050B02020A03"/>
              </a:rPr>
              <a:t>🔢 1. Numbers – Cardinal Numbers</a:t>
            </a:r>
            <a:endParaRPr lang="es-CO" sz="96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xotc350 DmBd BT" panose="04030705050B02020A03"/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31CAAB2-2C12-438A-8541-E60C2C0084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57387" y="1779588"/>
            <a:ext cx="4138613" cy="4351338"/>
          </a:xfrm>
        </p:spPr>
        <p:txBody>
          <a:bodyPr>
            <a:normAutofit/>
          </a:bodyPr>
          <a:lstStyle/>
          <a:p>
            <a:endParaRPr lang="es-CO" sz="1600" b="0" i="0" dirty="0">
              <a:solidFill>
                <a:srgbClr val="202C4C"/>
              </a:solidFill>
              <a:effectLst/>
              <a:latin typeface="DINPro"/>
            </a:endParaRPr>
          </a:p>
          <a:p>
            <a:pPr marL="0" indent="0">
              <a:buNone/>
            </a:pPr>
            <a:endParaRPr lang="es-CO" sz="1600" b="0" i="0" dirty="0">
              <a:solidFill>
                <a:srgbClr val="202C4C"/>
              </a:solidFill>
              <a:effectLst/>
              <a:latin typeface="DINPro"/>
            </a:endParaRPr>
          </a:p>
          <a:p>
            <a:pPr marL="0" indent="0">
              <a:buNone/>
            </a:pPr>
            <a:endParaRPr lang="es-CO" sz="2400" dirty="0">
              <a:latin typeface="Exotc350 DmBd BT" panose="04030705050B02020A03" pitchFamily="82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9F2987E-32B6-B19B-99E8-B118F978A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212273"/>
              </p:ext>
            </p:extLst>
          </p:nvPr>
        </p:nvGraphicFramePr>
        <p:xfrm>
          <a:off x="1676400" y="1509713"/>
          <a:ext cx="10515600" cy="50292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2050028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982506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789672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400" b="1">
                          <a:latin typeface="Exotc350 DmBd BT" panose="04030705050B02020A03"/>
                        </a:rPr>
                        <a:t>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>
                          <a:latin typeface="Exotc350 DmBd BT" panose="04030705050B02020A03"/>
                        </a:rPr>
                        <a:t>English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b="1" dirty="0" err="1">
                          <a:latin typeface="Exotc350 DmBd BT" panose="04030705050B02020A03"/>
                        </a:rPr>
                        <a:t>Spanish</a:t>
                      </a:r>
                      <a:endParaRPr lang="es-CO" sz="2400" b="1" dirty="0">
                        <a:latin typeface="Exotc350 DmBd BT" panose="04030705050B02020A03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382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Uno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313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Two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Dos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046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Three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Tres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587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Four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Cuatro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321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Five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Cinco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270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Six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Seis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193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Seven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Siete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172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Ocho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321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Nine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Nueve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268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>
                          <a:latin typeface="Exotc350 DmBd BT" panose="04030705050B02020A03"/>
                        </a:rPr>
                        <a:t>Ten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>
                          <a:latin typeface="Exotc350 DmBd BT" panose="04030705050B02020A03"/>
                        </a:rPr>
                        <a:t>Diez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0833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3132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31CAAB2-2C12-438A-8541-E60C2C0084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57387" y="1779588"/>
            <a:ext cx="9001126" cy="435133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s-CO" sz="1600" b="0" i="0" dirty="0">
              <a:solidFill>
                <a:srgbClr val="202C4C"/>
              </a:solidFill>
              <a:effectLst/>
              <a:latin typeface="DINPro"/>
            </a:endParaRPr>
          </a:p>
          <a:p>
            <a:pPr marL="0" indent="0">
              <a:buNone/>
            </a:pPr>
            <a:endParaRPr lang="es-CO" sz="2400" dirty="0">
              <a:latin typeface="Exotc350 DmBd BT" panose="04030705050B02020A03" pitchFamily="82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C31BA4C-28DD-9DA1-47D9-2690840A05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28724" y="62107"/>
            <a:ext cx="957262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4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xotc350 DmBd BT" panose="04030705050B02020A03"/>
              </a:rPr>
              <a:t>⏰ 2. The Time – How to Tell the Time</a:t>
            </a:r>
            <a:endParaRPr kumimoji="0" lang="es-CO" altLang="es-CO" sz="9600" b="1" i="1" u="sng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xotc350 DmBd BT" panose="04030705050B02020A03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3FBFBA-E351-C330-B9CB-B85CCFFE0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706" y="1971503"/>
            <a:ext cx="76963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[</a:t>
            </a: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hour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s-CO" altLang="es-CO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</a:t>
            </a:r>
            <a:r>
              <a:rPr kumimoji="0" lang="es-CO" altLang="es-CO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CO" altLang="es-CO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five</a:t>
            </a:r>
            <a:r>
              <a:rPr kumimoji="0" lang="es-CO" altLang="es-CO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o’clock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(Son las cinco en punto)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Half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past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[</a:t>
            </a: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hour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s-CO" altLang="es-CO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</a:t>
            </a:r>
            <a:r>
              <a:rPr kumimoji="0" lang="es-CO" altLang="es-CO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CO" altLang="es-CO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half</a:t>
            </a:r>
            <a:r>
              <a:rPr kumimoji="0" lang="es-CO" altLang="es-CO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past</a:t>
            </a:r>
            <a:r>
              <a:rPr kumimoji="0" lang="es-CO" altLang="es-CO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(Son las tres y media)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Quarter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past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[</a:t>
            </a: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hour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s-CO" altLang="es-CO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</a:t>
            </a:r>
            <a:r>
              <a:rPr kumimoji="0" lang="es-CO" altLang="es-CO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CO" altLang="es-CO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quarter</a:t>
            </a:r>
            <a:r>
              <a:rPr kumimoji="0" lang="es-CO" altLang="es-CO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past</a:t>
            </a:r>
            <a:r>
              <a:rPr kumimoji="0" lang="es-CO" altLang="es-CO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(Son las dos y cuarto)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Quarter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[</a:t>
            </a: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hour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s-CO" altLang="es-CO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</a:t>
            </a:r>
            <a:r>
              <a:rPr kumimoji="0" lang="es-CO" altLang="es-CO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CO" altLang="es-CO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quarter</a:t>
            </a:r>
            <a:r>
              <a:rPr kumimoji="0" lang="es-CO" altLang="es-CO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CO" altLang="es-CO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four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(Son las cuatro menos cuarto)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2E974B2D-7A7E-8F45-F7CF-F2A3098A3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735302"/>
              </p:ext>
            </p:extLst>
          </p:nvPr>
        </p:nvGraphicFramePr>
        <p:xfrm>
          <a:off x="2228851" y="3319653"/>
          <a:ext cx="10515600" cy="2590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90326170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16945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800" b="1" i="1" u="sng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English Expression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800" b="1" i="1" u="sng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Spanish</a:t>
                      </a:r>
                      <a:r>
                        <a:rPr lang="es-CO" sz="2800" b="1" i="1" u="sng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</a:t>
                      </a:r>
                      <a:r>
                        <a:rPr lang="es-CO" sz="2800" b="1" i="1" u="sng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Meaning</a:t>
                      </a:r>
                      <a:endParaRPr lang="es-CO" sz="2800" b="1" i="1" u="sng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594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2800"/>
                        <a:t>It is one o’clock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2800"/>
                        <a:t>Es la una en punto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880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It is half past two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2800"/>
                        <a:t>Son las dos y media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772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It is quarter past three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2800"/>
                        <a:t>Son las tres y cuarto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13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It is quarter to four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2800" dirty="0"/>
                        <a:t>Son las cuatro menos cuarto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953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4294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4E67A6B-061F-47AD-A957-65EDB422C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CO" sz="7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xotc350 DmBd BT" panose="04030705050B02020A03"/>
              </a:rPr>
              <a:t>🕓 2.1. Time </a:t>
            </a:r>
            <a:r>
              <a:rPr lang="es-CO" sz="7200" b="1" i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xotc350 DmBd BT" panose="04030705050B02020A03"/>
              </a:rPr>
              <a:t>Vocabulary</a:t>
            </a:r>
            <a:endParaRPr lang="es-CO" sz="344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xotc350 DmBd BT" panose="04030705050B02020A03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AA93D0-1C16-23A3-8726-9DD83FB616E9}"/>
              </a:ext>
            </a:extLst>
          </p:cNvPr>
          <p:cNvSpPr txBox="1"/>
          <p:nvPr/>
        </p:nvSpPr>
        <p:spPr>
          <a:xfrm>
            <a:off x="838200" y="6519446"/>
            <a:ext cx="447198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sz="2000" b="1" i="0" dirty="0">
              <a:solidFill>
                <a:srgbClr val="202C4C"/>
              </a:solidFill>
              <a:effectLst/>
              <a:latin typeface="DINPro"/>
            </a:endParaRPr>
          </a:p>
          <a:p>
            <a:endParaRPr lang="es-CO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8E7C8369-1F70-8AE9-152C-96164883A1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26152"/>
              </p:ext>
            </p:extLst>
          </p:nvPr>
        </p:nvGraphicFramePr>
        <p:xfrm>
          <a:off x="928720" y="1325563"/>
          <a:ext cx="10425080" cy="5081492"/>
        </p:xfrm>
        <a:graphic>
          <a:graphicData uri="http://schemas.openxmlformats.org/drawingml/2006/table">
            <a:tbl>
              <a:tblPr/>
              <a:tblGrid>
                <a:gridCol w="5212540">
                  <a:extLst>
                    <a:ext uri="{9D8B030D-6E8A-4147-A177-3AD203B41FA5}">
                      <a16:colId xmlns:a16="http://schemas.microsoft.com/office/drawing/2014/main" val="1068822703"/>
                    </a:ext>
                  </a:extLst>
                </a:gridCol>
                <a:gridCol w="5212540">
                  <a:extLst>
                    <a:ext uri="{9D8B030D-6E8A-4147-A177-3AD203B41FA5}">
                      <a16:colId xmlns:a16="http://schemas.microsoft.com/office/drawing/2014/main" val="1393745510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r>
                        <a:rPr lang="es-CO" sz="2800" b="1" i="0">
                          <a:latin typeface="Exotc350 DmBd BT" panose="04030705050B02020A03"/>
                        </a:rPr>
                        <a:t>English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800" b="1" i="0" dirty="0" err="1">
                          <a:latin typeface="Exotc350 DmBd BT" panose="04030705050B02020A03"/>
                        </a:rPr>
                        <a:t>Spanish</a:t>
                      </a:r>
                      <a:endParaRPr lang="es-CO" sz="2800" b="1" i="0" dirty="0">
                        <a:latin typeface="Exotc350 DmBd BT" panose="04030705050B02020A03"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11592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s-CO" sz="2400"/>
                        <a:t>Clock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Reloj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92177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s-CO" sz="2400" dirty="0" err="1"/>
                        <a:t>Morning</a:t>
                      </a:r>
                      <a:endParaRPr lang="es-CO" sz="2400" dirty="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Mañana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63936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s-CO" sz="2400"/>
                        <a:t>Afternoon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Tarde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55023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s-CO" sz="2400"/>
                        <a:t>Evening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Anochecer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60093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s-CO" sz="2400"/>
                        <a:t>Night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Noche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09851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s-CO" sz="2400"/>
                        <a:t>Now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Ahora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640280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s-CO" sz="2400"/>
                        <a:t>Later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Más tarde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10065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s-CO" sz="2400"/>
                        <a:t>Early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Temprano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635220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s-CO" sz="2400"/>
                        <a:t>Late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Tarde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3186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s-CO" sz="2400"/>
                        <a:t>Time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Tiempo / Hora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876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3941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1AA93D0-1C16-23A3-8726-9DD83FB616E9}"/>
              </a:ext>
            </a:extLst>
          </p:cNvPr>
          <p:cNvSpPr txBox="1"/>
          <p:nvPr/>
        </p:nvSpPr>
        <p:spPr>
          <a:xfrm>
            <a:off x="6815138" y="1779588"/>
            <a:ext cx="447198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sz="2000" b="1" i="0" dirty="0">
              <a:solidFill>
                <a:srgbClr val="202C4C"/>
              </a:solidFill>
              <a:effectLst/>
              <a:latin typeface="DINPro"/>
            </a:endParaRPr>
          </a:p>
          <a:p>
            <a:endParaRPr lang="es-CO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7ACAD68-CBFD-CB19-E395-2CEA83EB56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28724" y="292941"/>
            <a:ext cx="981551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6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📅 3. Days of the Week</a:t>
            </a:r>
            <a:endParaRPr kumimoji="0" lang="es-CO" altLang="es-CO" sz="16600" b="1" i="1" u="sng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A2660899-9CC4-F3E9-AFB7-244CD23A458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57660414"/>
              </p:ext>
            </p:extLst>
          </p:nvPr>
        </p:nvGraphicFramePr>
        <p:xfrm>
          <a:off x="1957387" y="1929397"/>
          <a:ext cx="9086850" cy="4322864"/>
        </p:xfrm>
        <a:graphic>
          <a:graphicData uri="http://schemas.openxmlformats.org/drawingml/2006/table">
            <a:tbl>
              <a:tblPr/>
              <a:tblGrid>
                <a:gridCol w="4543425">
                  <a:extLst>
                    <a:ext uri="{9D8B030D-6E8A-4147-A177-3AD203B41FA5}">
                      <a16:colId xmlns:a16="http://schemas.microsoft.com/office/drawing/2014/main" val="3360717174"/>
                    </a:ext>
                  </a:extLst>
                </a:gridCol>
                <a:gridCol w="4543425">
                  <a:extLst>
                    <a:ext uri="{9D8B030D-6E8A-4147-A177-3AD203B41FA5}">
                      <a16:colId xmlns:a16="http://schemas.microsoft.com/office/drawing/2014/main" val="2330851617"/>
                    </a:ext>
                  </a:extLst>
                </a:gridCol>
              </a:tblGrid>
              <a:tr h="269604">
                <a:tc>
                  <a:txBody>
                    <a:bodyPr/>
                    <a:lstStyle/>
                    <a:p>
                      <a:r>
                        <a:rPr lang="es-CO" sz="3600" b="1"/>
                        <a:t>English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3600" b="1" dirty="0" err="1"/>
                        <a:t>Spanish</a:t>
                      </a:r>
                      <a:endParaRPr lang="es-CO" sz="3600" b="1" dirty="0"/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599255"/>
                  </a:ext>
                </a:extLst>
              </a:tr>
              <a:tr h="269604">
                <a:tc>
                  <a:txBody>
                    <a:bodyPr/>
                    <a:lstStyle/>
                    <a:p>
                      <a:r>
                        <a:rPr lang="es-CO" sz="3200"/>
                        <a:t>Monday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3200"/>
                        <a:t>Lunes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898799"/>
                  </a:ext>
                </a:extLst>
              </a:tr>
              <a:tr h="269604">
                <a:tc>
                  <a:txBody>
                    <a:bodyPr/>
                    <a:lstStyle/>
                    <a:p>
                      <a:r>
                        <a:rPr lang="es-CO" sz="3200"/>
                        <a:t>Tuesday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3200"/>
                        <a:t>Martes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84556"/>
                  </a:ext>
                </a:extLst>
              </a:tr>
              <a:tr h="269604">
                <a:tc>
                  <a:txBody>
                    <a:bodyPr/>
                    <a:lstStyle/>
                    <a:p>
                      <a:r>
                        <a:rPr lang="es-CO" sz="3200"/>
                        <a:t>Wednesday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3200"/>
                        <a:t>Miércoles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116428"/>
                  </a:ext>
                </a:extLst>
              </a:tr>
              <a:tr h="269604">
                <a:tc>
                  <a:txBody>
                    <a:bodyPr/>
                    <a:lstStyle/>
                    <a:p>
                      <a:r>
                        <a:rPr lang="es-CO" sz="3200"/>
                        <a:t>Thursday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3200"/>
                        <a:t>Jueves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215308"/>
                  </a:ext>
                </a:extLst>
              </a:tr>
              <a:tr h="269604">
                <a:tc>
                  <a:txBody>
                    <a:bodyPr/>
                    <a:lstStyle/>
                    <a:p>
                      <a:r>
                        <a:rPr lang="es-CO" sz="3200"/>
                        <a:t>Friday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3200"/>
                        <a:t>Viernes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365211"/>
                  </a:ext>
                </a:extLst>
              </a:tr>
              <a:tr h="269604">
                <a:tc>
                  <a:txBody>
                    <a:bodyPr/>
                    <a:lstStyle/>
                    <a:p>
                      <a:r>
                        <a:rPr lang="es-CO" sz="3200"/>
                        <a:t>Saturday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3200"/>
                        <a:t>Sábado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385669"/>
                  </a:ext>
                </a:extLst>
              </a:tr>
              <a:tr h="269604">
                <a:tc>
                  <a:txBody>
                    <a:bodyPr/>
                    <a:lstStyle/>
                    <a:p>
                      <a:r>
                        <a:rPr lang="es-CO" sz="3200"/>
                        <a:t>Sunday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3200" dirty="0"/>
                        <a:t>Domingo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215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1267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4E67A6B-061F-47AD-A957-65EDB422C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xotc350 DmBd BT"/>
              </a:rPr>
              <a:t>📆 4. Months of the Year</a:t>
            </a:r>
            <a:endParaRPr lang="es-CO" sz="166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xotc350 DmBd B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AA93D0-1C16-23A3-8726-9DD83FB616E9}"/>
              </a:ext>
            </a:extLst>
          </p:cNvPr>
          <p:cNvSpPr txBox="1"/>
          <p:nvPr/>
        </p:nvSpPr>
        <p:spPr>
          <a:xfrm>
            <a:off x="838200" y="6519446"/>
            <a:ext cx="447198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sz="2000" b="1" i="0" dirty="0">
              <a:solidFill>
                <a:srgbClr val="202C4C"/>
              </a:solidFill>
              <a:effectLst/>
              <a:latin typeface="DINPro"/>
            </a:endParaRPr>
          </a:p>
          <a:p>
            <a:endParaRPr lang="es-CO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5B5C090-8C95-34D4-3F2D-500C57ED3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316074"/>
              </p:ext>
            </p:extLst>
          </p:nvPr>
        </p:nvGraphicFramePr>
        <p:xfrm>
          <a:off x="1927360" y="1325563"/>
          <a:ext cx="9959840" cy="5172160"/>
        </p:xfrm>
        <a:graphic>
          <a:graphicData uri="http://schemas.openxmlformats.org/drawingml/2006/table">
            <a:tbl>
              <a:tblPr/>
              <a:tblGrid>
                <a:gridCol w="4979920">
                  <a:extLst>
                    <a:ext uri="{9D8B030D-6E8A-4147-A177-3AD203B41FA5}">
                      <a16:colId xmlns:a16="http://schemas.microsoft.com/office/drawing/2014/main" val="317756160"/>
                    </a:ext>
                  </a:extLst>
                </a:gridCol>
                <a:gridCol w="4979920">
                  <a:extLst>
                    <a:ext uri="{9D8B030D-6E8A-4147-A177-3AD203B41FA5}">
                      <a16:colId xmlns:a16="http://schemas.microsoft.com/office/drawing/2014/main" val="2834057862"/>
                    </a:ext>
                  </a:extLst>
                </a:gridCol>
              </a:tblGrid>
              <a:tr h="243115">
                <a:tc>
                  <a:txBody>
                    <a:bodyPr/>
                    <a:lstStyle/>
                    <a:p>
                      <a:r>
                        <a:rPr lang="es-CO" sz="2800" b="1"/>
                        <a:t>English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800" b="1" dirty="0" err="1"/>
                        <a:t>Spanish</a:t>
                      </a:r>
                      <a:endParaRPr lang="es-CO" sz="2800" b="1" dirty="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731923"/>
                  </a:ext>
                </a:extLst>
              </a:tr>
              <a:tr h="378864">
                <a:tc>
                  <a:txBody>
                    <a:bodyPr/>
                    <a:lstStyle/>
                    <a:p>
                      <a:r>
                        <a:rPr lang="es-CO" sz="2000" b="0">
                          <a:latin typeface="Exotc350 DmBd BT"/>
                        </a:rPr>
                        <a:t>January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0">
                          <a:latin typeface="Exotc350 DmBd BT"/>
                        </a:rPr>
                        <a:t>Enero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543114"/>
                  </a:ext>
                </a:extLst>
              </a:tr>
              <a:tr h="378864">
                <a:tc>
                  <a:txBody>
                    <a:bodyPr/>
                    <a:lstStyle/>
                    <a:p>
                      <a:r>
                        <a:rPr lang="es-CO" sz="2000" b="0">
                          <a:latin typeface="Exotc350 DmBd BT"/>
                        </a:rPr>
                        <a:t>February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0">
                          <a:latin typeface="Exotc350 DmBd BT"/>
                        </a:rPr>
                        <a:t>Febrero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670419"/>
                  </a:ext>
                </a:extLst>
              </a:tr>
              <a:tr h="378864">
                <a:tc>
                  <a:txBody>
                    <a:bodyPr/>
                    <a:lstStyle/>
                    <a:p>
                      <a:r>
                        <a:rPr lang="es-CO" sz="2000" b="0">
                          <a:latin typeface="Exotc350 DmBd BT"/>
                        </a:rPr>
                        <a:t>March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0" dirty="0">
                          <a:latin typeface="Exotc350 DmBd BT"/>
                        </a:rPr>
                        <a:t>Marzo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334907"/>
                  </a:ext>
                </a:extLst>
              </a:tr>
              <a:tr h="378864">
                <a:tc>
                  <a:txBody>
                    <a:bodyPr/>
                    <a:lstStyle/>
                    <a:p>
                      <a:r>
                        <a:rPr lang="es-CO" sz="2000" b="0">
                          <a:latin typeface="Exotc350 DmBd BT"/>
                        </a:rPr>
                        <a:t>April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0">
                          <a:latin typeface="Exotc350 DmBd BT"/>
                        </a:rPr>
                        <a:t>Abril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807724"/>
                  </a:ext>
                </a:extLst>
              </a:tr>
              <a:tr h="378864">
                <a:tc>
                  <a:txBody>
                    <a:bodyPr/>
                    <a:lstStyle/>
                    <a:p>
                      <a:r>
                        <a:rPr lang="es-CO" sz="2000" b="0">
                          <a:latin typeface="Exotc350 DmBd BT"/>
                        </a:rPr>
                        <a:t>May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0">
                          <a:latin typeface="Exotc350 DmBd BT"/>
                        </a:rPr>
                        <a:t>Mayo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853498"/>
                  </a:ext>
                </a:extLst>
              </a:tr>
              <a:tr h="378864">
                <a:tc>
                  <a:txBody>
                    <a:bodyPr/>
                    <a:lstStyle/>
                    <a:p>
                      <a:r>
                        <a:rPr lang="es-CO" sz="2000" b="0">
                          <a:latin typeface="Exotc350 DmBd BT"/>
                        </a:rPr>
                        <a:t>June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0">
                          <a:latin typeface="Exotc350 DmBd BT"/>
                        </a:rPr>
                        <a:t>Junio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628489"/>
                  </a:ext>
                </a:extLst>
              </a:tr>
              <a:tr h="378864">
                <a:tc>
                  <a:txBody>
                    <a:bodyPr/>
                    <a:lstStyle/>
                    <a:p>
                      <a:r>
                        <a:rPr lang="es-CO" sz="2000" b="0">
                          <a:latin typeface="Exotc350 DmBd BT"/>
                        </a:rPr>
                        <a:t>July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0">
                          <a:latin typeface="Exotc350 DmBd BT"/>
                        </a:rPr>
                        <a:t>Julio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4837"/>
                  </a:ext>
                </a:extLst>
              </a:tr>
              <a:tr h="378864">
                <a:tc>
                  <a:txBody>
                    <a:bodyPr/>
                    <a:lstStyle/>
                    <a:p>
                      <a:r>
                        <a:rPr lang="es-CO" sz="2000" b="0">
                          <a:latin typeface="Exotc350 DmBd BT"/>
                        </a:rPr>
                        <a:t>August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0">
                          <a:latin typeface="Exotc350 DmBd BT"/>
                        </a:rPr>
                        <a:t>Agosto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25891"/>
                  </a:ext>
                </a:extLst>
              </a:tr>
              <a:tr h="378864">
                <a:tc>
                  <a:txBody>
                    <a:bodyPr/>
                    <a:lstStyle/>
                    <a:p>
                      <a:r>
                        <a:rPr lang="es-CO" sz="2000" b="0">
                          <a:latin typeface="Exotc350 DmBd BT"/>
                        </a:rPr>
                        <a:t>September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0">
                          <a:latin typeface="Exotc350 DmBd BT"/>
                        </a:rPr>
                        <a:t>Septiembre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191637"/>
                  </a:ext>
                </a:extLst>
              </a:tr>
              <a:tr h="378864">
                <a:tc>
                  <a:txBody>
                    <a:bodyPr/>
                    <a:lstStyle/>
                    <a:p>
                      <a:r>
                        <a:rPr lang="es-CO" sz="2000" b="0">
                          <a:latin typeface="Exotc350 DmBd BT"/>
                        </a:rPr>
                        <a:t>October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0">
                          <a:latin typeface="Exotc350 DmBd BT"/>
                        </a:rPr>
                        <a:t>Octubre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684772"/>
                  </a:ext>
                </a:extLst>
              </a:tr>
              <a:tr h="378864">
                <a:tc>
                  <a:txBody>
                    <a:bodyPr/>
                    <a:lstStyle/>
                    <a:p>
                      <a:r>
                        <a:rPr lang="es-CO" sz="2000" b="0">
                          <a:latin typeface="Exotc350 DmBd BT"/>
                        </a:rPr>
                        <a:t>November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0">
                          <a:latin typeface="Exotc350 DmBd BT"/>
                        </a:rPr>
                        <a:t>Noviembre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620878"/>
                  </a:ext>
                </a:extLst>
              </a:tr>
              <a:tr h="378864">
                <a:tc>
                  <a:txBody>
                    <a:bodyPr/>
                    <a:lstStyle/>
                    <a:p>
                      <a:r>
                        <a:rPr lang="es-CO" sz="2000" b="0">
                          <a:latin typeface="Exotc350 DmBd BT"/>
                        </a:rPr>
                        <a:t>December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0" dirty="0">
                          <a:latin typeface="Exotc350 DmBd BT"/>
                        </a:rPr>
                        <a:t>Diciembre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7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0335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4E67A6B-061F-47AD-A957-65EDB422C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0" y="2227262"/>
            <a:ext cx="10515600" cy="1882775"/>
          </a:xfrm>
        </p:spPr>
        <p:txBody>
          <a:bodyPr>
            <a:noAutofit/>
          </a:bodyPr>
          <a:lstStyle/>
          <a:p>
            <a:pPr algn="ctr"/>
            <a:r>
              <a:rPr lang="es-CO" sz="9600" b="1" i="1" u="sng" dirty="0">
                <a:latin typeface="Exotc350 DmBd BT" panose="04030705050B02020A03"/>
              </a:rPr>
              <a:t>ACTIVITIES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31CAAB2-2C12-438A-8541-E60C2C0084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00250" y="3057524"/>
            <a:ext cx="9634537" cy="30734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endParaRPr lang="es-CO" sz="2400" dirty="0">
              <a:latin typeface="Exotc350 DmBd BT" panose="04030705050B02020A03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870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22337153-186C-169D-ED11-16C6E7353844}"/>
              </a:ext>
            </a:extLst>
          </p:cNvPr>
          <p:cNvSpPr txBox="1"/>
          <p:nvPr/>
        </p:nvSpPr>
        <p:spPr>
          <a:xfrm>
            <a:off x="1271588" y="1585913"/>
            <a:ext cx="99155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Exotc350 DmBd BT" panose="04030705050B02020A03"/>
              </a:rPr>
              <a:t>📝 1. Activities</a:t>
            </a:r>
          </a:p>
          <a:p>
            <a:r>
              <a:rPr lang="en-US" sz="3600" b="1" dirty="0">
                <a:latin typeface="Exotc350 DmBd BT" panose="04030705050B02020A03"/>
              </a:rPr>
              <a:t>🟢 Activity 1: Write the numbers in English</a:t>
            </a:r>
          </a:p>
          <a:p>
            <a:pPr>
              <a:buFont typeface="+mj-lt"/>
              <a:buAutoNum type="arabicPeriod"/>
            </a:pPr>
            <a:r>
              <a:rPr lang="en-US" sz="3600" b="1" dirty="0">
                <a:latin typeface="Exotc350 DmBd BT" panose="04030705050B02020A03"/>
              </a:rPr>
              <a:t>2 → ______</a:t>
            </a:r>
          </a:p>
          <a:p>
            <a:pPr>
              <a:buFont typeface="+mj-lt"/>
              <a:buAutoNum type="arabicPeriod"/>
            </a:pPr>
            <a:r>
              <a:rPr lang="en-US" sz="3600" b="1" dirty="0">
                <a:latin typeface="Exotc350 DmBd BT" panose="04030705050B02020A03"/>
              </a:rPr>
              <a:t>4 → ______</a:t>
            </a:r>
          </a:p>
          <a:p>
            <a:pPr>
              <a:buFont typeface="+mj-lt"/>
              <a:buAutoNum type="arabicPeriod"/>
            </a:pPr>
            <a:r>
              <a:rPr lang="en-US" sz="3600" b="1" dirty="0">
                <a:latin typeface="Exotc350 DmBd BT" panose="04030705050B02020A03"/>
              </a:rPr>
              <a:t>7 → ______</a:t>
            </a:r>
          </a:p>
          <a:p>
            <a:pPr>
              <a:buFont typeface="+mj-lt"/>
              <a:buAutoNum type="arabicPeriod"/>
            </a:pPr>
            <a:r>
              <a:rPr lang="en-US" sz="3600" b="1" dirty="0">
                <a:latin typeface="Exotc350 DmBd BT" panose="04030705050B02020A03"/>
              </a:rPr>
              <a:t>1 → ______</a:t>
            </a:r>
          </a:p>
          <a:p>
            <a:pPr>
              <a:buFont typeface="+mj-lt"/>
              <a:buAutoNum type="arabicPeriod"/>
            </a:pPr>
            <a:r>
              <a:rPr lang="en-US" sz="3600" b="1" dirty="0">
                <a:latin typeface="Exotc350 DmBd BT" panose="04030705050B02020A03"/>
              </a:rPr>
              <a:t>8 → ______</a:t>
            </a:r>
          </a:p>
        </p:txBody>
      </p:sp>
    </p:spTree>
    <p:extLst>
      <p:ext uri="{BB962C8B-B14F-4D97-AF65-F5344CB8AC3E}">
        <p14:creationId xmlns:p14="http://schemas.microsoft.com/office/powerpoint/2010/main" val="914418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31CAAB2-2C12-438A-8541-E60C2C0084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86187" y="1779588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dirty="0">
                <a:latin typeface="Exotc350 DmBd BT" panose="04030705050B02020A03" pitchFamily="82" charset="0"/>
              </a:rPr>
              <a:t> </a:t>
            </a:r>
            <a:endParaRPr lang="es-CO" sz="2400" dirty="0">
              <a:latin typeface="Exotc350 DmBd BT" panose="04030705050B02020A03" pitchFamily="8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7583ED6-198F-9D92-B2F1-59095AC9AEE8}"/>
              </a:ext>
            </a:extLst>
          </p:cNvPr>
          <p:cNvSpPr txBox="1"/>
          <p:nvPr/>
        </p:nvSpPr>
        <p:spPr>
          <a:xfrm>
            <a:off x="1614487" y="1243013"/>
            <a:ext cx="99441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Exotc350 DmBd BT" panose="04030705050B02020A03"/>
              </a:rPr>
              <a:t>🔵 Activity 2: What time is it?</a:t>
            </a:r>
          </a:p>
          <a:p>
            <a:pPr>
              <a:buFont typeface="+mj-lt"/>
              <a:buAutoNum type="arabicPeriod"/>
            </a:pPr>
            <a:r>
              <a:rPr lang="en-US" sz="4000" b="1" dirty="0">
                <a:latin typeface="Exotc350 DmBd BT" panose="04030705050B02020A03"/>
              </a:rPr>
              <a:t>3:00 → __________________________</a:t>
            </a:r>
          </a:p>
          <a:p>
            <a:pPr>
              <a:buFont typeface="+mj-lt"/>
              <a:buAutoNum type="arabicPeriod"/>
            </a:pPr>
            <a:r>
              <a:rPr lang="en-US" sz="4000" b="1" dirty="0">
                <a:latin typeface="Exotc350 DmBd BT" panose="04030705050B02020A03"/>
              </a:rPr>
              <a:t>6:30 → __________________________</a:t>
            </a:r>
          </a:p>
          <a:p>
            <a:pPr>
              <a:buFont typeface="+mj-lt"/>
              <a:buAutoNum type="arabicPeriod"/>
            </a:pPr>
            <a:r>
              <a:rPr lang="en-US" sz="4000" b="1" dirty="0">
                <a:latin typeface="Exotc350 DmBd BT" panose="04030705050B02020A03"/>
              </a:rPr>
              <a:t>7:15 → __________________________</a:t>
            </a:r>
          </a:p>
          <a:p>
            <a:pPr>
              <a:buFont typeface="+mj-lt"/>
              <a:buAutoNum type="arabicPeriod"/>
            </a:pPr>
            <a:r>
              <a:rPr lang="en-US" sz="4000" b="1" dirty="0">
                <a:latin typeface="Exotc350 DmBd BT" panose="04030705050B02020A03"/>
              </a:rPr>
              <a:t>9:45 → __________________________</a:t>
            </a:r>
          </a:p>
          <a:p>
            <a:pPr>
              <a:buFont typeface="+mj-lt"/>
              <a:buAutoNum type="arabicPeriod"/>
            </a:pPr>
            <a:r>
              <a:rPr lang="en-US" sz="4000" b="1" dirty="0">
                <a:latin typeface="Exotc350 DmBd BT" panose="04030705050B02020A03"/>
              </a:rPr>
              <a:t>5:41 → __________________________</a:t>
            </a:r>
          </a:p>
          <a:p>
            <a:pPr>
              <a:buFont typeface="+mj-lt"/>
              <a:buAutoNum type="arabicPeriod"/>
            </a:pPr>
            <a:endParaRPr lang="en-US" sz="4000" b="1" dirty="0">
              <a:latin typeface="Exotc350 DmBd BT" panose="04030705050B02020A03"/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81382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4E67A6B-061F-47AD-A957-65EDB422C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235585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MX" sz="8800" b="1" i="1" u="sng" dirty="0">
                <a:latin typeface="Exotc350 Bd BT" panose="04030805050B02020A03" pitchFamily="82" charset="0"/>
              </a:rPr>
              <a:t> </a:t>
            </a:r>
            <a:endParaRPr lang="es-CO" sz="8800" b="1" i="1" u="sng" dirty="0">
              <a:latin typeface="Exotc350 Bd BT" panose="04030805050B02020A03" pitchFamily="82" charset="0"/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31CAAB2-2C12-438A-8541-E60C2C0084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71663" y="628650"/>
            <a:ext cx="8977312" cy="52879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000" b="1" dirty="0">
                <a:latin typeface="Exotc350 DmBd BT" panose="04030705050B02020A03"/>
              </a:rPr>
              <a:t>🟡 </a:t>
            </a:r>
            <a:r>
              <a:rPr lang="en-US" sz="5800" b="1" dirty="0">
                <a:latin typeface="Exotc350 DmBd BT" panose="04030705050B02020A03"/>
              </a:rPr>
              <a:t>Activity 3: Put the days in the correct order</a:t>
            </a:r>
          </a:p>
          <a:p>
            <a:pPr marL="0" indent="0">
              <a:buNone/>
            </a:pPr>
            <a:br>
              <a:rPr lang="en-US" sz="5800" dirty="0">
                <a:latin typeface="Exotc350 DmBd BT" panose="04030705050B02020A03"/>
              </a:rPr>
            </a:br>
            <a:r>
              <a:rPr lang="en-US" sz="5800" dirty="0">
                <a:latin typeface="Exotc350 DmBd BT" panose="04030705050B02020A03"/>
              </a:rPr>
              <a:t>Sunday, </a:t>
            </a:r>
          </a:p>
          <a:p>
            <a:pPr marL="0" indent="0">
              <a:buNone/>
            </a:pPr>
            <a:r>
              <a:rPr lang="en-US" sz="5800" dirty="0">
                <a:latin typeface="Exotc350 DmBd BT" panose="04030705050B02020A03"/>
              </a:rPr>
              <a:t>Wednesday, </a:t>
            </a:r>
          </a:p>
          <a:p>
            <a:pPr marL="0" indent="0">
              <a:buNone/>
            </a:pPr>
            <a:r>
              <a:rPr lang="en-US" sz="5800" dirty="0">
                <a:latin typeface="Exotc350 DmBd BT" panose="04030705050B02020A03"/>
              </a:rPr>
              <a:t>Monday, </a:t>
            </a:r>
          </a:p>
          <a:p>
            <a:pPr marL="0" indent="0">
              <a:buNone/>
            </a:pPr>
            <a:r>
              <a:rPr lang="en-US" sz="5800" dirty="0">
                <a:latin typeface="Exotc350 DmBd BT" panose="04030705050B02020A03"/>
              </a:rPr>
              <a:t>Friday, </a:t>
            </a:r>
          </a:p>
          <a:p>
            <a:pPr marL="0" indent="0">
              <a:buNone/>
            </a:pPr>
            <a:r>
              <a:rPr lang="en-US" sz="5800" dirty="0">
                <a:latin typeface="Exotc350 DmBd BT" panose="04030705050B02020A03"/>
              </a:rPr>
              <a:t>Thursday,</a:t>
            </a:r>
          </a:p>
          <a:p>
            <a:pPr marL="0" indent="0">
              <a:buNone/>
            </a:pPr>
            <a:r>
              <a:rPr lang="en-US" sz="5800" dirty="0">
                <a:latin typeface="Exotc350 DmBd BT" panose="04030705050B02020A03"/>
              </a:rPr>
              <a:t>Tuesday, </a:t>
            </a:r>
          </a:p>
          <a:p>
            <a:pPr marL="0" indent="0">
              <a:buNone/>
            </a:pPr>
            <a:r>
              <a:rPr lang="en-US" sz="5800" dirty="0">
                <a:latin typeface="Exotc350 DmBd BT" panose="04030705050B02020A03"/>
              </a:rPr>
              <a:t>Saturday</a:t>
            </a:r>
          </a:p>
          <a:p>
            <a:pPr marL="0" indent="0">
              <a:buNone/>
            </a:pPr>
            <a:br>
              <a:rPr lang="en-US" sz="5800" dirty="0">
                <a:latin typeface="Exotc350 DmBd BT" panose="04030705050B02020A03"/>
              </a:rPr>
            </a:br>
            <a:r>
              <a:rPr lang="en-US" sz="5800" dirty="0">
                <a:latin typeface="Exotc350 DmBd BT" panose="04030705050B02020A03"/>
              </a:rPr>
              <a:t>✍️ Write them in correct order: ______________________________</a:t>
            </a:r>
            <a:endParaRPr lang="es-CO" sz="6400" dirty="0">
              <a:latin typeface="Exotc350 DmBd BT" panose="04030705050B02020A03"/>
            </a:endParaRPr>
          </a:p>
        </p:txBody>
      </p:sp>
    </p:spTree>
    <p:extLst>
      <p:ext uri="{BB962C8B-B14F-4D97-AF65-F5344CB8AC3E}">
        <p14:creationId xmlns:p14="http://schemas.microsoft.com/office/powerpoint/2010/main" val="3429478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6E4EF72-7CB2-5FF6-1B1C-0CE2CFD2719A}"/>
              </a:ext>
            </a:extLst>
          </p:cNvPr>
          <p:cNvSpPr txBox="1"/>
          <p:nvPr/>
        </p:nvSpPr>
        <p:spPr>
          <a:xfrm>
            <a:off x="2043112" y="1228397"/>
            <a:ext cx="898683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🟠 Activity 5: Translate the time vocabulary</a:t>
            </a:r>
          </a:p>
          <a:p>
            <a:endParaRPr lang="en-US" sz="4000" dirty="0"/>
          </a:p>
          <a:p>
            <a:pPr>
              <a:buFont typeface="+mj-lt"/>
              <a:buAutoNum type="arabicPeriod"/>
            </a:pPr>
            <a:r>
              <a:rPr lang="en-US" sz="4000" dirty="0"/>
              <a:t>Watch → ________</a:t>
            </a:r>
          </a:p>
          <a:p>
            <a:pPr>
              <a:buFont typeface="+mj-lt"/>
              <a:buAutoNum type="arabicPeriod"/>
            </a:pPr>
            <a:r>
              <a:rPr lang="en-US" sz="4000" dirty="0"/>
              <a:t>Evening → ________</a:t>
            </a:r>
          </a:p>
          <a:p>
            <a:pPr>
              <a:buFont typeface="+mj-lt"/>
              <a:buAutoNum type="arabicPeriod"/>
            </a:pPr>
            <a:r>
              <a:rPr lang="en-US" sz="4000" dirty="0"/>
              <a:t>Early → ________</a:t>
            </a:r>
          </a:p>
          <a:p>
            <a:pPr>
              <a:buFont typeface="+mj-lt"/>
              <a:buAutoNum type="arabicPeriod"/>
            </a:pPr>
            <a:r>
              <a:rPr lang="en-US" sz="4000" dirty="0"/>
              <a:t>Night → ________</a:t>
            </a:r>
          </a:p>
          <a:p>
            <a:pPr>
              <a:buFont typeface="+mj-lt"/>
              <a:buAutoNum type="arabicPeriod"/>
            </a:pPr>
            <a:r>
              <a:rPr lang="en-US" sz="4000" dirty="0"/>
              <a:t>Time → ________</a:t>
            </a:r>
          </a:p>
        </p:txBody>
      </p:sp>
    </p:spTree>
    <p:extLst>
      <p:ext uri="{BB962C8B-B14F-4D97-AF65-F5344CB8AC3E}">
        <p14:creationId xmlns:p14="http://schemas.microsoft.com/office/powerpoint/2010/main" val="1570620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08A59-D441-4FB3-882F-5E97C84118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7000" y="1603375"/>
            <a:ext cx="5543550" cy="2320925"/>
          </a:xfrm>
        </p:spPr>
        <p:txBody>
          <a:bodyPr>
            <a:normAutofit/>
          </a:bodyPr>
          <a:lstStyle/>
          <a:p>
            <a:r>
              <a:rPr lang="es-CO" sz="11500" dirty="0">
                <a:latin typeface="Exotc350 Bd BT" panose="04030805050B02020A03" pitchFamily="82" charset="0"/>
              </a:rPr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23538976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6160</TotalTime>
  <Words>449</Words>
  <Application>Microsoft Office PowerPoint</Application>
  <PresentationFormat>Panorámica</PresentationFormat>
  <Paragraphs>159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DINPro</vt:lpstr>
      <vt:lpstr>Exotc350 Bd BT</vt:lpstr>
      <vt:lpstr>Exotc350 DmBd BT</vt:lpstr>
      <vt:lpstr>Tema de Office</vt:lpstr>
      <vt:lpstr>INGLÉS BÁSICO CONVERSACIONAL NIVEL A1. COHORTE XXII</vt:lpstr>
      <vt:lpstr>“One, Two, Three…” </vt:lpstr>
      <vt:lpstr>🔢 1. Numbers – Cardinal Numbers</vt:lpstr>
      <vt:lpstr>⏰ 2. The Time – How to Tell the Time</vt:lpstr>
      <vt:lpstr>🕓 2.1. Time Vocabulary</vt:lpstr>
      <vt:lpstr>📅 3. Days of the Week</vt:lpstr>
      <vt:lpstr>📆 4. Months of the Year</vt:lpstr>
      <vt:lpstr>ACTIVITIES</vt:lpstr>
      <vt:lpstr>Presentación de PowerPoint</vt:lpstr>
      <vt:lpstr>Presentación de PowerPoint</vt:lpstr>
      <vt:lpstr> </vt:lpstr>
      <vt:lpstr>Presentación de PowerPoint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Mingueo-2da</dc:creator>
  <cp:lastModifiedBy>Margarith Sasai Salazar Rosado</cp:lastModifiedBy>
  <cp:revision>3</cp:revision>
  <dcterms:modified xsi:type="dcterms:W3CDTF">2025-06-01T17:23:37Z</dcterms:modified>
</cp:coreProperties>
</file>